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72527"/>
            <a:ext cx="81216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27592"/>
            <a:ext cx="4074160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7420" y="1586901"/>
            <a:ext cx="3615258" cy="1191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reativecommons.org/licenses/by-nc-nd/4.0/deed.en" TargetMode="External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038/s44335-025-00044-2" TargetMode="External"/><Relationship Id="rId3" Type="http://schemas.openxmlformats.org/officeDocument/2006/relationships/image" Target="../media/image2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09/IEDM13553.2020.9372124" TargetMode="External"/><Relationship Id="rId3" Type="http://schemas.openxmlformats.org/officeDocument/2006/relationships/image" Target="../media/image2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109/IEDM13553.2020.9372124" TargetMode="External"/><Relationship Id="rId3" Type="http://schemas.openxmlformats.org/officeDocument/2006/relationships/hyperlink" Target="https://doi.org/10.1038/s44335-025-00044-2" TargetMode="External"/><Relationship Id="rId4" Type="http://schemas.openxmlformats.org/officeDocument/2006/relationships/hyperlink" Target="https://doi.org/10.1109/MSSC.2024.3462388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2921" y="2558701"/>
            <a:ext cx="727091" cy="50824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3260445" y="3358384"/>
            <a:ext cx="203200" cy="55880"/>
            <a:chOff x="3260445" y="3358384"/>
            <a:chExt cx="203200" cy="55880"/>
          </a:xfrm>
        </p:grpSpPr>
        <p:sp>
          <p:nvSpPr>
            <p:cNvPr id="7" name="object 7"/>
            <p:cNvSpPr/>
            <p:nvPr/>
          </p:nvSpPr>
          <p:spPr>
            <a:xfrm>
              <a:off x="3323614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60445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531425" y="3357119"/>
            <a:ext cx="203200" cy="58419"/>
            <a:chOff x="3531425" y="3357119"/>
            <a:chExt cx="203200" cy="58419"/>
          </a:xfrm>
        </p:grpSpPr>
        <p:sp>
          <p:nvSpPr>
            <p:cNvPr id="10" name="object 10"/>
            <p:cNvSpPr/>
            <p:nvPr/>
          </p:nvSpPr>
          <p:spPr>
            <a:xfrm>
              <a:off x="3620326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31425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07626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3802393" y="3357119"/>
            <a:ext cx="203200" cy="58419"/>
            <a:chOff x="3802393" y="3357119"/>
            <a:chExt cx="203200" cy="58419"/>
          </a:xfrm>
        </p:grpSpPr>
        <p:sp>
          <p:nvSpPr>
            <p:cNvPr id="14" name="object 14"/>
            <p:cNvSpPr/>
            <p:nvPr/>
          </p:nvSpPr>
          <p:spPr>
            <a:xfrm>
              <a:off x="3878593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0239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878593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0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4326582" y="3358384"/>
            <a:ext cx="238760" cy="57150"/>
            <a:chOff x="4326582" y="3358384"/>
            <a:chExt cx="238760" cy="57150"/>
          </a:xfrm>
        </p:grpSpPr>
        <p:sp>
          <p:nvSpPr>
            <p:cNvPr id="19" name="object 19"/>
            <p:cNvSpPr/>
            <p:nvPr/>
          </p:nvSpPr>
          <p:spPr>
            <a:xfrm>
              <a:off x="4451033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423969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329112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640168" y="601545"/>
            <a:ext cx="3328670" cy="68008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algn="ctr" marL="12065" marR="5080">
              <a:lnSpc>
                <a:spcPct val="106700"/>
              </a:lnSpc>
              <a:spcBef>
                <a:spcPts val="20"/>
              </a:spcBef>
            </a:pPr>
            <a:r>
              <a:rPr dirty="0" spc="75"/>
              <a:t>AI-</a:t>
            </a:r>
            <a:r>
              <a:rPr dirty="0" spc="-25"/>
              <a:t>Powered</a:t>
            </a:r>
            <a:r>
              <a:rPr dirty="0" spc="140"/>
              <a:t> </a:t>
            </a:r>
            <a:r>
              <a:rPr dirty="0"/>
              <a:t>Analog</a:t>
            </a:r>
            <a:r>
              <a:rPr dirty="0" spc="140"/>
              <a:t> </a:t>
            </a:r>
            <a:r>
              <a:rPr dirty="0"/>
              <a:t>Deep</a:t>
            </a:r>
            <a:r>
              <a:rPr dirty="0" spc="140"/>
              <a:t> </a:t>
            </a:r>
            <a:r>
              <a:rPr dirty="0"/>
              <a:t>Learning</a:t>
            </a:r>
            <a:r>
              <a:rPr dirty="0" spc="140"/>
              <a:t> </a:t>
            </a:r>
            <a:r>
              <a:rPr dirty="0" spc="-10"/>
              <a:t>Hardware </a:t>
            </a:r>
            <a:r>
              <a:rPr dirty="0"/>
              <a:t>Accelerator</a:t>
            </a:r>
            <a:r>
              <a:rPr dirty="0" spc="95"/>
              <a:t> </a:t>
            </a:r>
            <a:r>
              <a:rPr dirty="0" spc="-10"/>
              <a:t>Design</a:t>
            </a: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dirty="0" sz="1100" spc="-10">
                <a:latin typeface="Tahoma"/>
                <a:cs typeface="Tahoma"/>
              </a:rPr>
              <a:t>Track: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D: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AI4AIchips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ctr" marL="33655" marR="34290">
              <a:lnSpc>
                <a:spcPct val="100000"/>
              </a:lnSpc>
              <a:spcBef>
                <a:spcPts val="90"/>
              </a:spcBef>
            </a:pPr>
            <a:r>
              <a:rPr dirty="0" spc="-30"/>
              <a:t>Zhiyang</a:t>
            </a:r>
            <a:r>
              <a:rPr dirty="0" spc="-35"/>
              <a:t> </a:t>
            </a:r>
            <a:r>
              <a:rPr dirty="0" spc="-20"/>
              <a:t>Ong</a:t>
            </a:r>
            <a:r>
              <a:rPr dirty="0" baseline="27777" sz="1200" spc="-30">
                <a:latin typeface="Arial"/>
                <a:cs typeface="Arial"/>
              </a:rPr>
              <a:t>1</a:t>
            </a:r>
            <a:endParaRPr baseline="27777" sz="12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335"/>
              </a:spcBef>
            </a:pPr>
          </a:p>
          <a:p>
            <a:pPr algn="ctr" marL="97155" marR="55880">
              <a:lnSpc>
                <a:spcPts val="950"/>
              </a:lnSpc>
            </a:pPr>
            <a:r>
              <a:rPr dirty="0" baseline="27777" sz="900">
                <a:latin typeface="Arial"/>
                <a:cs typeface="Arial"/>
              </a:rPr>
              <a:t>1</a:t>
            </a:r>
            <a:r>
              <a:rPr dirty="0" sz="800">
                <a:latin typeface="Arial"/>
                <a:cs typeface="Arial"/>
              </a:rPr>
              <a:t>Department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Electrical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Computer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Engineering,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College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Engineering </a:t>
            </a:r>
            <a:r>
              <a:rPr dirty="0" sz="800" spc="-30">
                <a:latin typeface="Arial"/>
                <a:cs typeface="Arial"/>
              </a:rPr>
              <a:t>Texas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60">
                <a:latin typeface="Arial"/>
                <a:cs typeface="Arial"/>
              </a:rPr>
              <a:t>A&amp;M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University</a:t>
            </a:r>
            <a:endParaRPr sz="800">
              <a:latin typeface="Arial"/>
              <a:cs typeface="Arial"/>
            </a:endParaRPr>
          </a:p>
          <a:p>
            <a:pPr algn="ctr" marL="33655" marR="28575">
              <a:lnSpc>
                <a:spcPts val="905"/>
              </a:lnSpc>
            </a:pPr>
            <a:r>
              <a:rPr dirty="0" sz="800" spc="-20">
                <a:latin typeface="Arial"/>
                <a:cs typeface="Arial"/>
              </a:rPr>
              <a:t>College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Station,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30">
                <a:latin typeface="Arial"/>
                <a:cs typeface="Arial"/>
              </a:rPr>
              <a:t>TX</a:t>
            </a:r>
            <a:endParaRPr sz="800">
              <a:latin typeface="Arial"/>
              <a:cs typeface="Arial"/>
            </a:endParaRPr>
          </a:p>
          <a:p>
            <a:pPr algn="ctr" marL="33655" marR="27940">
              <a:lnSpc>
                <a:spcPts val="955"/>
              </a:lnSpc>
            </a:pPr>
            <a:r>
              <a:rPr dirty="0" sz="800" spc="-10">
                <a:latin typeface="Arial"/>
                <a:cs typeface="Arial"/>
              </a:rPr>
              <a:t>U.S.A.</a:t>
            </a:r>
            <a:endParaRPr sz="8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270"/>
              </a:spcBef>
            </a:pPr>
            <a:endParaRPr sz="800">
              <a:latin typeface="Arial"/>
              <a:cs typeface="Arial"/>
            </a:endParaRPr>
          </a:p>
          <a:p>
            <a:pPr algn="ctr" marL="33655" marR="27940">
              <a:lnSpc>
                <a:spcPct val="100000"/>
              </a:lnSpc>
            </a:pPr>
            <a:r>
              <a:rPr dirty="0" spc="-20"/>
              <a:t>June</a:t>
            </a:r>
            <a:r>
              <a:rPr dirty="0" spc="-60"/>
              <a:t> </a:t>
            </a:r>
            <a:r>
              <a:rPr dirty="0" spc="-25"/>
              <a:t>12,</a:t>
            </a:r>
            <a:r>
              <a:rPr dirty="0" spc="-60"/>
              <a:t> </a:t>
            </a:r>
            <a:r>
              <a:rPr dirty="0" spc="-20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936381"/>
            <a:ext cx="3282950" cy="1056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29920">
              <a:lnSpc>
                <a:spcPct val="153500"/>
              </a:lnSpc>
              <a:spcBef>
                <a:spcPts val="100"/>
              </a:spcBef>
            </a:pPr>
            <a:r>
              <a:rPr dirty="0" sz="1100" spc="-25">
                <a:latin typeface="Tahoma"/>
                <a:cs typeface="Tahoma"/>
              </a:rPr>
              <a:t>Copyright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95">
                <a:latin typeface="Verdana"/>
                <a:cs typeface="Verdana"/>
              </a:rPr>
              <a:t>©</a:t>
            </a:r>
            <a:r>
              <a:rPr dirty="0" sz="1100" spc="-75">
                <a:latin typeface="Verdana"/>
                <a:cs typeface="Verdana"/>
              </a:rPr>
              <a:t> </a:t>
            </a:r>
            <a:r>
              <a:rPr dirty="0" sz="1100" spc="-50">
                <a:latin typeface="Tahoma"/>
                <a:cs typeface="Tahoma"/>
              </a:rPr>
              <a:t>2026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Zhiyang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Ong</a:t>
            </a:r>
            <a:r>
              <a:rPr dirty="0" sz="1100" spc="-35">
                <a:latin typeface="Tahoma"/>
                <a:cs typeface="Tahoma"/>
              </a:rPr>
              <a:t> and </a:t>
            </a:r>
            <a:r>
              <a:rPr dirty="0" sz="1100" spc="-20">
                <a:latin typeface="Tahoma"/>
                <a:cs typeface="Tahoma"/>
              </a:rPr>
              <a:t>Anuj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170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work</a:t>
            </a:r>
            <a:r>
              <a:rPr dirty="0" sz="1100" spc="17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17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licensed</a:t>
            </a:r>
            <a:r>
              <a:rPr dirty="0" sz="1100" spc="17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under</a:t>
            </a:r>
            <a:r>
              <a:rPr dirty="0" sz="1100" spc="175">
                <a:latin typeface="Tahoma"/>
                <a:cs typeface="Tahoma"/>
              </a:rPr>
              <a:t>  </a:t>
            </a:r>
            <a:r>
              <a:rPr dirty="0" sz="1100" spc="-50">
                <a:latin typeface="Tahoma"/>
                <a:cs typeface="Tahoma"/>
              </a:rPr>
              <a:t>a</a:t>
            </a:r>
            <a:endParaRPr sz="1100">
              <a:latin typeface="Tahoma"/>
              <a:cs typeface="Tahoma"/>
            </a:endParaRPr>
          </a:p>
          <a:p>
            <a:pPr algn="just" marL="12700" marR="1036955">
              <a:lnSpc>
                <a:spcPct val="102600"/>
              </a:lnSpc>
            </a:pPr>
            <a:r>
              <a:rPr dirty="0" sz="1100">
                <a:latin typeface="Tahoma"/>
                <a:cs typeface="Tahoma"/>
                <a:hlinkClick r:id="rId2"/>
              </a:rPr>
              <a:t>Creative Commons </a:t>
            </a:r>
            <a:r>
              <a:rPr dirty="0" sz="1100" spc="-10">
                <a:latin typeface="Tahoma"/>
                <a:cs typeface="Tahoma"/>
                <a:hlinkClick r:id="rId2"/>
              </a:rPr>
              <a:t>“Attribution-</a:t>
            </a:r>
            <a:r>
              <a:rPr dirty="0" sz="1100" spc="-40">
                <a:latin typeface="Tahoma"/>
                <a:cs typeface="Tahoma"/>
                <a:hlinkClick r:id="rId2"/>
              </a:rPr>
              <a:t>NonCommercial-</a:t>
            </a:r>
            <a:r>
              <a:rPr dirty="0" sz="1100">
                <a:latin typeface="Tahoma"/>
                <a:cs typeface="Tahoma"/>
                <a:hlinkClick r:id="rId2"/>
              </a:rPr>
              <a:t>NoDerivatives</a:t>
            </a:r>
            <a:r>
              <a:rPr dirty="0" sz="1100" spc="290">
                <a:latin typeface="Tahoma"/>
                <a:cs typeface="Tahoma"/>
                <a:hlinkClick r:id="rId2"/>
              </a:rPr>
              <a:t>   </a:t>
            </a:r>
            <a:r>
              <a:rPr dirty="0" sz="1100" spc="-40">
                <a:latin typeface="Tahoma"/>
                <a:cs typeface="Tahoma"/>
                <a:hlinkClick r:id="rId2"/>
              </a:rPr>
              <a:t>4.0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  <a:hlinkClick r:id="rId2"/>
              </a:rPr>
              <a:t>International”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license.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2541" y="1403649"/>
            <a:ext cx="1385475" cy="484916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Acknowledgments</a:t>
            </a:r>
            <a:r>
              <a:rPr dirty="0" spc="40"/>
              <a:t> </a:t>
            </a:r>
            <a:r>
              <a:rPr dirty="0" spc="45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494" y="513409"/>
            <a:ext cx="3977004" cy="260096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63500" marR="3098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Dr.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Francesco</a:t>
            </a:r>
            <a:r>
              <a:rPr dirty="0" sz="1100" spc="-30">
                <a:latin typeface="Tahoma"/>
                <a:cs typeface="Tahoma"/>
              </a:rPr>
              <a:t> Stefanni, </a:t>
            </a:r>
            <a:r>
              <a:rPr dirty="0" sz="1100" spc="-45">
                <a:latin typeface="Tahoma"/>
                <a:cs typeface="Tahoma"/>
              </a:rPr>
              <a:t>former</a:t>
            </a:r>
            <a:r>
              <a:rPr dirty="0" sz="1100" spc="-30">
                <a:latin typeface="Tahoma"/>
                <a:cs typeface="Tahoma"/>
              </a:rPr>
              <a:t> labmate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Zhiyang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at University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Verona,</a:t>
            </a:r>
            <a:r>
              <a:rPr dirty="0" sz="1100" spc="-40">
                <a:latin typeface="Tahoma"/>
                <a:cs typeface="Tahoma"/>
              </a:rPr>
              <a:t> who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helped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craft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25">
                <a:latin typeface="Tahoma"/>
                <a:cs typeface="Tahoma"/>
              </a:rPr>
              <a:t>L</a:t>
            </a:r>
            <a:r>
              <a:rPr dirty="0" baseline="13888" sz="1200" spc="-187">
                <a:latin typeface="Arial"/>
                <a:cs typeface="Arial"/>
              </a:rPr>
              <a:t>A</a:t>
            </a:r>
            <a:r>
              <a:rPr dirty="0" sz="1100" spc="-125">
                <a:latin typeface="Tahoma"/>
                <a:cs typeface="Tahoma"/>
              </a:rPr>
              <a:t>T</a:t>
            </a:r>
            <a:r>
              <a:rPr dirty="0" baseline="-12626" sz="1650" spc="-187">
                <a:latin typeface="Tahoma"/>
                <a:cs typeface="Tahoma"/>
              </a:rPr>
              <a:t>E</a:t>
            </a:r>
            <a:r>
              <a:rPr dirty="0" sz="1100" spc="-125">
                <a:latin typeface="Tahoma"/>
                <a:cs typeface="Tahoma"/>
              </a:rPr>
              <a:t>X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presentation </a:t>
            </a:r>
            <a:r>
              <a:rPr dirty="0" sz="1100" spc="-10">
                <a:latin typeface="Tahoma"/>
                <a:cs typeface="Tahoma"/>
              </a:rPr>
              <a:t>slides.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63500" marR="40005">
              <a:lnSpc>
                <a:spcPct val="1026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engineers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Mythic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(Austin,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60">
                <a:latin typeface="Tahoma"/>
                <a:cs typeface="Tahoma"/>
              </a:rPr>
              <a:t>TX)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showing</a:t>
            </a:r>
            <a:r>
              <a:rPr dirty="0" sz="1100" spc="-20">
                <a:latin typeface="Tahoma"/>
                <a:cs typeface="Tahoma"/>
              </a:rPr>
              <a:t> us that </a:t>
            </a:r>
            <a:r>
              <a:rPr dirty="0" sz="1100" spc="-40">
                <a:latin typeface="Tahoma"/>
                <a:cs typeface="Tahoma"/>
              </a:rPr>
              <a:t>analog in-</a:t>
            </a:r>
            <a:r>
              <a:rPr dirty="0" sz="1100" spc="-50">
                <a:latin typeface="Tahoma"/>
                <a:cs typeface="Tahoma"/>
              </a:rPr>
              <a:t>memory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plausible, and </a:t>
            </a:r>
            <a:r>
              <a:rPr dirty="0" sz="1100" spc="-10">
                <a:latin typeface="Tahoma"/>
                <a:cs typeface="Tahoma"/>
              </a:rPr>
              <a:t>their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inspirational </a:t>
            </a:r>
            <a:r>
              <a:rPr dirty="0" sz="1100">
                <a:latin typeface="Tahoma"/>
                <a:cs typeface="Tahoma"/>
              </a:rPr>
              <a:t>grit,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refusing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their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start-</a:t>
            </a:r>
            <a:r>
              <a:rPr dirty="0" sz="1100">
                <a:latin typeface="Tahoma"/>
                <a:cs typeface="Tahoma"/>
              </a:rPr>
              <a:t>up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go</a:t>
            </a:r>
            <a:r>
              <a:rPr dirty="0" sz="1100" spc="-35">
                <a:latin typeface="Tahoma"/>
                <a:cs typeface="Tahoma"/>
              </a:rPr>
              <a:t> bankrupt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multiple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times, </a:t>
            </a:r>
            <a:r>
              <a:rPr dirty="0" sz="1100" spc="-35">
                <a:latin typeface="Tahoma"/>
                <a:cs typeface="Tahoma"/>
              </a:rPr>
              <a:t>motivates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resilient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completing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IEEE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SSCS </a:t>
            </a:r>
            <a:r>
              <a:rPr dirty="0" sz="1100" spc="-25">
                <a:latin typeface="Tahoma"/>
                <a:cs typeface="Tahoma"/>
              </a:rPr>
              <a:t>Chipathon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2026</a:t>
            </a:r>
            <a:r>
              <a:rPr dirty="0" sz="1100" spc="-10">
                <a:latin typeface="Tahoma"/>
                <a:cs typeface="Tahoma"/>
              </a:rPr>
              <a:t> project.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63500" marR="17780">
              <a:lnSpc>
                <a:spcPct val="102600"/>
              </a:lnSpc>
            </a:pPr>
            <a:r>
              <a:rPr dirty="0" sz="1100">
                <a:latin typeface="Tahoma"/>
                <a:cs typeface="Tahoma"/>
              </a:rPr>
              <a:t>Prof.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Kaushik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Sengupta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Princeton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University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>
                <a:latin typeface="Tahoma"/>
                <a:cs typeface="Tahoma"/>
              </a:rPr>
              <a:t>Prof.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David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Z </a:t>
            </a:r>
            <a:r>
              <a:rPr dirty="0" sz="1100">
                <a:latin typeface="Tahoma"/>
                <a:cs typeface="Tahoma"/>
              </a:rPr>
              <a:t>Pan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Awesome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Mighty</a:t>
            </a:r>
            <a:r>
              <a:rPr dirty="0" sz="1100" spc="-25">
                <a:latin typeface="Tahoma"/>
                <a:cs typeface="Tahoma"/>
              </a:rPr>
              <a:t> University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Texas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Austin (trolling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Aggieland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haters,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Go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Longhorns!!!.,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Hook’em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horns!!!)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 </a:t>
            </a:r>
            <a:r>
              <a:rPr dirty="0" sz="1100" spc="-30">
                <a:latin typeface="Tahoma"/>
                <a:cs typeface="Tahoma"/>
              </a:rPr>
              <a:t>inspiring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craft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AI-</a:t>
            </a:r>
            <a:r>
              <a:rPr dirty="0" sz="1100" spc="-70">
                <a:latin typeface="Tahoma"/>
                <a:cs typeface="Tahoma"/>
              </a:rPr>
              <a:t>powered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electronic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design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automation</a:t>
            </a:r>
            <a:r>
              <a:rPr dirty="0" sz="1100" spc="-10">
                <a:latin typeface="Tahoma"/>
                <a:cs typeface="Tahoma"/>
              </a:rPr>
              <a:t> tools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kill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IC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design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jobs.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640839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Acknowledgments</a:t>
            </a:r>
            <a:r>
              <a:rPr dirty="0" spc="40"/>
              <a:t> </a:t>
            </a:r>
            <a:r>
              <a:rPr dirty="0" spc="45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5741"/>
            <a:ext cx="3859529" cy="294513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Prof.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Mehdi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Saligane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showing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LLMs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even </a:t>
            </a:r>
            <a:r>
              <a:rPr dirty="0" sz="1100" spc="-30">
                <a:latin typeface="Tahoma"/>
                <a:cs typeface="Tahoma"/>
              </a:rPr>
              <a:t>agentic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process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design</a:t>
            </a:r>
            <a:r>
              <a:rPr dirty="0" sz="1100" spc="-25">
                <a:latin typeface="Tahoma"/>
                <a:cs typeface="Tahoma"/>
              </a:rPr>
              <a:t> files,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 </a:t>
            </a:r>
            <a:r>
              <a:rPr dirty="0" sz="1100" spc="-45">
                <a:latin typeface="Tahoma"/>
                <a:cs typeface="Tahoma"/>
              </a:rPr>
              <a:t>working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with </a:t>
            </a:r>
            <a:r>
              <a:rPr dirty="0" sz="1100" spc="-40">
                <a:latin typeface="Tahoma"/>
                <a:cs typeface="Tahoma"/>
              </a:rPr>
              <a:t>source/design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files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much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more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common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computer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languages</a:t>
            </a:r>
            <a:r>
              <a:rPr dirty="0" sz="1100" spc="-25">
                <a:latin typeface="Tahoma"/>
                <a:cs typeface="Tahoma"/>
              </a:rPr>
              <a:t> or </a:t>
            </a:r>
            <a:r>
              <a:rPr dirty="0" sz="1100" spc="-30">
                <a:latin typeface="Tahoma"/>
                <a:cs typeface="Tahoma"/>
              </a:rPr>
              <a:t>dialects/variants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thereof,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Python/PyMTL,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instead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20">
                <a:latin typeface="Tahoma"/>
                <a:cs typeface="Tahoma"/>
              </a:rPr>
              <a:t>Clash/Haskell, Chisel </a:t>
            </a:r>
            <a:r>
              <a:rPr dirty="0" sz="1100">
                <a:latin typeface="Tahoma"/>
                <a:cs typeface="Tahoma"/>
              </a:rPr>
              <a:t>HDL/Scala,</a:t>
            </a:r>
            <a:r>
              <a:rPr dirty="0" sz="1100" spc="-20">
                <a:latin typeface="Tahoma"/>
                <a:cs typeface="Tahoma"/>
              </a:rPr>
              <a:t> or </a:t>
            </a:r>
            <a:r>
              <a:rPr dirty="0" sz="1100" spc="-10">
                <a:latin typeface="Tahoma"/>
                <a:cs typeface="Tahoma"/>
              </a:rPr>
              <a:t>Hardcaml/OCaml.</a:t>
            </a:r>
            <a:r>
              <a:rPr dirty="0" sz="1100" spc="9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“IEEE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Solid-</a:t>
            </a:r>
            <a:r>
              <a:rPr dirty="0" sz="1100" spc="-10">
                <a:latin typeface="Tahoma"/>
                <a:cs typeface="Tahoma"/>
              </a:rPr>
              <a:t>State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Circuits</a:t>
            </a:r>
            <a:r>
              <a:rPr dirty="0" sz="1100" spc="-20">
                <a:latin typeface="Tahoma"/>
                <a:cs typeface="Tahoma"/>
              </a:rPr>
              <a:t> Directions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Series,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Think </a:t>
            </a:r>
            <a:r>
              <a:rPr dirty="0" sz="1100" spc="-35">
                <a:latin typeface="Tahoma"/>
                <a:cs typeface="Tahoma"/>
              </a:rPr>
              <a:t>Impact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ICs: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Words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Circuits: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Agentic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AI,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Foundation </a:t>
            </a:r>
            <a:r>
              <a:rPr dirty="0" sz="1100" spc="-20">
                <a:latin typeface="Tahoma"/>
                <a:cs typeface="Tahoma"/>
              </a:rPr>
              <a:t>Models,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Open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EDA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Workshop.”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12700" marR="189865">
              <a:lnSpc>
                <a:spcPct val="1026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Prof.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Mohsen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Imani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UC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Irvine</a:t>
            </a:r>
            <a:r>
              <a:rPr dirty="0" sz="1100" spc="-20">
                <a:latin typeface="Tahoma"/>
                <a:cs typeface="Tahoma"/>
              </a:rPr>
              <a:t> for </a:t>
            </a:r>
            <a:r>
              <a:rPr dirty="0" sz="1100" spc="-50">
                <a:latin typeface="Tahoma"/>
                <a:cs typeface="Tahoma"/>
              </a:rPr>
              <a:t>showing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use </a:t>
            </a:r>
            <a:r>
              <a:rPr dirty="0" sz="1100" spc="-40">
                <a:latin typeface="Tahoma"/>
                <a:cs typeface="Tahoma"/>
              </a:rPr>
              <a:t>equivalent/approximate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circuits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semiconductor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device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memristors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floating-</a:t>
            </a:r>
            <a:r>
              <a:rPr dirty="0" sz="1100" spc="-20">
                <a:latin typeface="Tahoma"/>
                <a:cs typeface="Tahoma"/>
              </a:rPr>
              <a:t>gate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MOSFETs.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12700" marR="176530">
              <a:lnSpc>
                <a:spcPct val="102600"/>
              </a:lnSpc>
            </a:pPr>
            <a:r>
              <a:rPr dirty="0" sz="1100">
                <a:latin typeface="Tahoma"/>
                <a:cs typeface="Tahoma"/>
              </a:rPr>
              <a:t>Prof.</a:t>
            </a:r>
            <a:r>
              <a:rPr dirty="0" sz="1100" spc="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Peng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UCSB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showing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perform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element </a:t>
            </a:r>
            <a:r>
              <a:rPr dirty="0" sz="1100" spc="-35">
                <a:latin typeface="Tahoma"/>
                <a:cs typeface="Tahoma"/>
              </a:rPr>
              <a:t>stamping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during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initial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phase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circuit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simulation,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swap </a:t>
            </a:r>
            <a:r>
              <a:rPr dirty="0" sz="1100" spc="-45">
                <a:latin typeface="Tahoma"/>
                <a:cs typeface="Tahoma"/>
              </a:rPr>
              <a:t>semiconductor</a:t>
            </a:r>
            <a:r>
              <a:rPr dirty="0" sz="1100" spc="-40">
                <a:latin typeface="Tahoma"/>
                <a:cs typeface="Tahoma"/>
              </a:rPr>
              <a:t> device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their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simpler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models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using </a:t>
            </a:r>
            <a:r>
              <a:rPr dirty="0" sz="1100" spc="-45">
                <a:latin typeface="Tahoma"/>
                <a:cs typeface="Tahoma"/>
              </a:rPr>
              <a:t>approximate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circuits.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/>
              <a:t>Project</a:t>
            </a:r>
            <a:r>
              <a:rPr dirty="0" spc="270"/>
              <a:t> </a:t>
            </a:r>
            <a:r>
              <a:rPr dirty="0" spc="-10"/>
              <a:t>Information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Tahoma"/>
                <a:cs typeface="Tahoma"/>
              </a:rPr>
              <a:t>Goal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Application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957" y="994930"/>
            <a:ext cx="3747135" cy="157607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4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Goals:</a:t>
            </a:r>
            <a:endParaRPr sz="1100">
              <a:latin typeface="Tahoma"/>
              <a:cs typeface="Tahoma"/>
            </a:endParaRPr>
          </a:p>
          <a:p>
            <a:pPr marL="492125" marR="415925" indent="-168275">
              <a:lnSpc>
                <a:spcPct val="100000"/>
              </a:lnSpc>
              <a:spcBef>
                <a:spcPts val="175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4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develop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multi-</a:t>
            </a:r>
            <a:r>
              <a:rPr dirty="0" sz="1000" spc="-10">
                <a:latin typeface="Tahoma"/>
                <a:cs typeface="Tahoma"/>
              </a:rPr>
              <a:t>modal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AI-</a:t>
            </a:r>
            <a:r>
              <a:rPr dirty="0" sz="1000" spc="-60">
                <a:latin typeface="Tahoma"/>
                <a:cs typeface="Tahoma"/>
              </a:rPr>
              <a:t>powered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analog</a:t>
            </a:r>
            <a:r>
              <a:rPr dirty="0" sz="1000" spc="-10">
                <a:latin typeface="Tahoma"/>
                <a:cs typeface="Tahoma"/>
              </a:rPr>
              <a:t> 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radio </a:t>
            </a:r>
            <a:r>
              <a:rPr dirty="0" sz="1000" spc="-40">
                <a:latin typeface="Tahoma"/>
                <a:cs typeface="Tahoma"/>
              </a:rPr>
              <a:t>frequency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(RF)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IC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design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492125" marR="121285" indent="-168275">
              <a:lnSpc>
                <a:spcPts val="1200"/>
              </a:lnSpc>
              <a:spcBef>
                <a:spcPts val="35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32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apply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aforementioned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AI-</a:t>
            </a:r>
            <a:r>
              <a:rPr dirty="0" sz="1000" spc="-60">
                <a:latin typeface="Tahoma"/>
                <a:cs typeface="Tahoma"/>
              </a:rPr>
              <a:t>powered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IC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design</a:t>
            </a:r>
            <a:r>
              <a:rPr dirty="0" sz="1000" spc="-20">
                <a:latin typeface="Tahoma"/>
                <a:cs typeface="Tahoma"/>
              </a:rPr>
              <a:t> flow </a:t>
            </a:r>
            <a:r>
              <a:rPr dirty="0" sz="1000" spc="-25">
                <a:latin typeface="Tahoma"/>
                <a:cs typeface="Tahoma"/>
              </a:rPr>
              <a:t>for </a:t>
            </a:r>
            <a:r>
              <a:rPr dirty="0" sz="1000" spc="-40">
                <a:latin typeface="Tahoma"/>
                <a:cs typeface="Tahoma"/>
              </a:rPr>
              <a:t>designing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analog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deep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learning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hardware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accelerators</a:t>
            </a:r>
            <a:endParaRPr sz="10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275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9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Application: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Analog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deep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hardware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accelerators</a:t>
            </a:r>
            <a:r>
              <a:rPr dirty="0" sz="1100" spc="-25">
                <a:latin typeface="Tahoma"/>
                <a:cs typeface="Tahoma"/>
              </a:rPr>
              <a:t> can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environmental </a:t>
            </a:r>
            <a:r>
              <a:rPr dirty="0" sz="1100" spc="-35">
                <a:latin typeface="Tahoma"/>
                <a:cs typeface="Tahoma"/>
              </a:rPr>
              <a:t>monitoring,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training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analog </a:t>
            </a:r>
            <a:r>
              <a:rPr dirty="0" sz="1100" spc="-35">
                <a:latin typeface="Tahoma"/>
                <a:cs typeface="Tahoma"/>
              </a:rPr>
              <a:t>signals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captured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from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sensors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conversion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digital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signals.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27592"/>
            <a:ext cx="272097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/>
              <a:t>Project</a:t>
            </a:r>
            <a:r>
              <a:rPr dirty="0" spc="270"/>
              <a:t> </a:t>
            </a:r>
            <a:r>
              <a:rPr dirty="0" spc="-10"/>
              <a:t>Information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Tahoma"/>
                <a:cs typeface="Tahoma"/>
              </a:rPr>
              <a:t>Design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–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High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Level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Proposal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(2-</a:t>
            </a:r>
            <a:r>
              <a:rPr dirty="0" sz="900">
                <a:latin typeface="Tahoma"/>
                <a:cs typeface="Tahoma"/>
              </a:rPr>
              <a:t>3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sentences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65">
                <a:latin typeface="Tahoma"/>
                <a:cs typeface="Tahoma"/>
              </a:rPr>
              <a:t>+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Image)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957" y="716304"/>
            <a:ext cx="3848100" cy="23329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14629" marR="146050" indent="-177165">
              <a:lnSpc>
                <a:spcPct val="102600"/>
              </a:lnSpc>
              <a:spcBef>
                <a:spcPts val="55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8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Tahoma"/>
                <a:cs typeface="Tahoma"/>
              </a:rPr>
              <a:t>Use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semiconductor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device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models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memristors</a:t>
            </a:r>
            <a:r>
              <a:rPr dirty="0" sz="1100" spc="-25">
                <a:latin typeface="Tahoma"/>
                <a:cs typeface="Tahoma"/>
              </a:rPr>
              <a:t> and </a:t>
            </a:r>
            <a:r>
              <a:rPr dirty="0" sz="1100" spc="-40">
                <a:latin typeface="Tahoma"/>
                <a:cs typeface="Tahoma"/>
              </a:rPr>
              <a:t>floating-</a:t>
            </a:r>
            <a:r>
              <a:rPr dirty="0" sz="1100" spc="-20">
                <a:latin typeface="Tahoma"/>
                <a:cs typeface="Tahoma"/>
              </a:rPr>
              <a:t>gate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MOSFETs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approximate</a:t>
            </a:r>
            <a:r>
              <a:rPr dirty="0" sz="1100" spc="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memristive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 spc="-40">
                <a:latin typeface="Tahoma"/>
                <a:cs typeface="Tahoma"/>
              </a:rPr>
              <a:t>floating-</a:t>
            </a:r>
            <a:r>
              <a:rPr dirty="0" sz="1100" spc="-20">
                <a:latin typeface="Tahoma"/>
                <a:cs typeface="Tahoma"/>
              </a:rPr>
              <a:t>gate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MOSFET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-</a:t>
            </a:r>
            <a:r>
              <a:rPr dirty="0" sz="1100" spc="-60">
                <a:latin typeface="Tahoma"/>
                <a:cs typeface="Tahoma"/>
              </a:rPr>
              <a:t>based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in-</a:t>
            </a:r>
            <a:r>
              <a:rPr dirty="0" sz="1100" spc="-50">
                <a:latin typeface="Tahoma"/>
                <a:cs typeface="Tahoma"/>
              </a:rPr>
              <a:t>memory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 </a:t>
            </a:r>
            <a:r>
              <a:rPr dirty="0" sz="1100" spc="-10">
                <a:latin typeface="Tahoma"/>
                <a:cs typeface="Tahoma"/>
              </a:rPr>
              <a:t>systems</a:t>
            </a:r>
            <a:endParaRPr sz="1100">
              <a:latin typeface="Tahoma"/>
              <a:cs typeface="Tahoma"/>
            </a:endParaRPr>
          </a:p>
          <a:p>
            <a:pPr marL="214629" marR="5588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Tahoma"/>
                <a:cs typeface="Tahoma"/>
              </a:rPr>
              <a:t>Implement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in-</a:t>
            </a:r>
            <a:r>
              <a:rPr dirty="0" sz="1100" spc="-60">
                <a:latin typeface="Tahoma"/>
                <a:cs typeface="Tahoma"/>
              </a:rPr>
              <a:t>memory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systems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replacing </a:t>
            </a:r>
            <a:r>
              <a:rPr dirty="0" sz="1100">
                <a:latin typeface="Tahoma"/>
                <a:cs typeface="Tahoma"/>
              </a:rPr>
              <a:t>SRAM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SRAM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subsystem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approximate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55">
                <a:latin typeface="Tahoma"/>
                <a:cs typeface="Tahoma"/>
              </a:rPr>
              <a:t>RAM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cell </a:t>
            </a:r>
            <a:r>
              <a:rPr dirty="0" sz="1100">
                <a:latin typeface="Tahoma"/>
                <a:cs typeface="Tahoma"/>
              </a:rPr>
              <a:t>circuit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based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aforementioned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semiconductor </a:t>
            </a:r>
            <a:r>
              <a:rPr dirty="0" sz="1100" spc="-40">
                <a:latin typeface="Tahoma"/>
                <a:cs typeface="Tahoma"/>
              </a:rPr>
              <a:t>device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models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9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Tahoma"/>
                <a:cs typeface="Tahoma"/>
              </a:rPr>
              <a:t>Use </a:t>
            </a:r>
            <a:r>
              <a:rPr dirty="0" sz="1100" spc="-45">
                <a:latin typeface="Tahoma"/>
                <a:cs typeface="Tahoma"/>
              </a:rPr>
              <a:t>recursive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self-</a:t>
            </a:r>
            <a:r>
              <a:rPr dirty="0" sz="1100" spc="-50">
                <a:latin typeface="Tahoma"/>
                <a:cs typeface="Tahoma"/>
              </a:rPr>
              <a:t>improvement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design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analog</a:t>
            </a:r>
            <a:endParaRPr sz="1100">
              <a:latin typeface="Tahoma"/>
              <a:cs typeface="Tahoma"/>
            </a:endParaRPr>
          </a:p>
          <a:p>
            <a:pPr marL="214629" marR="30480">
              <a:lnSpc>
                <a:spcPct val="102600"/>
              </a:lnSpc>
            </a:pPr>
            <a:r>
              <a:rPr dirty="0" sz="1100" spc="-40">
                <a:latin typeface="Tahoma"/>
                <a:cs typeface="Tahoma"/>
              </a:rPr>
              <a:t>in-</a:t>
            </a:r>
            <a:r>
              <a:rPr dirty="0" sz="1100" spc="-50">
                <a:latin typeface="Tahoma"/>
                <a:cs typeface="Tahoma"/>
              </a:rPr>
              <a:t>memory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systems,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where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hardware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generators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are created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train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(from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memory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subsystem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with </a:t>
            </a:r>
            <a:r>
              <a:rPr dirty="0" sz="1100" spc="-45">
                <a:latin typeface="Tahoma"/>
                <a:cs typeface="Tahoma"/>
              </a:rPr>
              <a:t>memristors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floating-</a:t>
            </a:r>
            <a:r>
              <a:rPr dirty="0" sz="1100" spc="-20">
                <a:latin typeface="Tahoma"/>
                <a:cs typeface="Tahoma"/>
              </a:rPr>
              <a:t>gate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MOSFETs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in-</a:t>
            </a:r>
            <a:r>
              <a:rPr dirty="0" sz="1100" spc="-10">
                <a:latin typeface="Tahoma"/>
                <a:cs typeface="Tahoma"/>
              </a:rPr>
              <a:t>memory </a:t>
            </a:r>
            <a:r>
              <a:rPr dirty="0" sz="1100" spc="-35">
                <a:latin typeface="Tahoma"/>
                <a:cs typeface="Tahoma"/>
              </a:rPr>
              <a:t>computing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systems)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7592"/>
            <a:ext cx="93662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>
                <a:solidFill>
                  <a:srgbClr val="3333B2"/>
                </a:solidFill>
                <a:latin typeface="Calibri"/>
                <a:cs typeface="Calibri"/>
              </a:rPr>
              <a:t>Slide</a:t>
            </a:r>
            <a:r>
              <a:rPr dirty="0" sz="1400" spc="29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3333B2"/>
                </a:solidFill>
                <a:latin typeface="Calibri"/>
                <a:cs typeface="Calibri"/>
              </a:rPr>
              <a:t>Title</a:t>
            </a:r>
            <a:r>
              <a:rPr dirty="0" sz="1400" spc="290">
                <a:solidFill>
                  <a:srgbClr val="3333B2"/>
                </a:solidFill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3333B2"/>
                </a:solidFill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3333B2"/>
                </a:solidFill>
                <a:latin typeface="Tahoma"/>
                <a:cs typeface="Tahoma"/>
              </a:rPr>
              <a:t>Slide</a:t>
            </a:r>
            <a:r>
              <a:rPr dirty="0" sz="900" spc="-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3333B2"/>
                </a:solidFill>
                <a:latin typeface="Tahoma"/>
                <a:cs typeface="Tahoma"/>
              </a:rPr>
              <a:t>Subtitle</a:t>
            </a:r>
            <a:r>
              <a:rPr dirty="0" sz="900" spc="-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3333B2"/>
                </a:solidFill>
                <a:latin typeface="Tahoma"/>
                <a:cs typeface="Tahoma"/>
              </a:rPr>
              <a:t>6.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5309" y="616913"/>
            <a:ext cx="2015489" cy="2247900"/>
            <a:chOff x="1015309" y="616913"/>
            <a:chExt cx="2015489" cy="2247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3513" y="1822004"/>
              <a:ext cx="441986" cy="4401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6240" y="1833544"/>
              <a:ext cx="396886" cy="3968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46240" y="1833544"/>
              <a:ext cx="397510" cy="397510"/>
            </a:xfrm>
            <a:custGeom>
              <a:avLst/>
              <a:gdLst/>
              <a:ahLst/>
              <a:cxnLst/>
              <a:rect l="l" t="t" r="r" b="b"/>
              <a:pathLst>
                <a:path w="397510" h="397510">
                  <a:moveTo>
                    <a:pt x="0" y="0"/>
                  </a:moveTo>
                  <a:lnTo>
                    <a:pt x="330737" y="0"/>
                  </a:lnTo>
                  <a:lnTo>
                    <a:pt x="396886" y="66149"/>
                  </a:lnTo>
                  <a:lnTo>
                    <a:pt x="396886" y="396886"/>
                  </a:lnTo>
                  <a:lnTo>
                    <a:pt x="66149" y="396886"/>
                  </a:lnTo>
                  <a:lnTo>
                    <a:pt x="0" y="330737"/>
                  </a:lnTo>
                  <a:lnTo>
                    <a:pt x="0" y="0"/>
                  </a:lnTo>
                  <a:close/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98467" y="2098020"/>
              <a:ext cx="331941" cy="3211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336" y="2109684"/>
              <a:ext cx="288739" cy="2782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20335" y="2109685"/>
              <a:ext cx="288925" cy="278765"/>
            </a:xfrm>
            <a:custGeom>
              <a:avLst/>
              <a:gdLst/>
              <a:ahLst/>
              <a:cxnLst/>
              <a:rect l="l" t="t" r="r" b="b"/>
              <a:pathLst>
                <a:path w="288925" h="278764">
                  <a:moveTo>
                    <a:pt x="42285" y="40747"/>
                  </a:moveTo>
                  <a:lnTo>
                    <a:pt x="246454" y="237493"/>
                  </a:lnTo>
                </a:path>
                <a:path w="288925" h="278764">
                  <a:moveTo>
                    <a:pt x="246454" y="40747"/>
                  </a:moveTo>
                  <a:lnTo>
                    <a:pt x="42285" y="237493"/>
                  </a:lnTo>
                </a:path>
                <a:path w="288925" h="278764">
                  <a:moveTo>
                    <a:pt x="0" y="139120"/>
                  </a:moveTo>
                  <a:lnTo>
                    <a:pt x="7360" y="95147"/>
                  </a:lnTo>
                  <a:lnTo>
                    <a:pt x="27855" y="56957"/>
                  </a:lnTo>
                  <a:lnTo>
                    <a:pt x="59106" y="26842"/>
                  </a:lnTo>
                  <a:lnTo>
                    <a:pt x="98737" y="7092"/>
                  </a:lnTo>
                  <a:lnTo>
                    <a:pt x="144370" y="0"/>
                  </a:lnTo>
                  <a:lnTo>
                    <a:pt x="190002" y="7092"/>
                  </a:lnTo>
                  <a:lnTo>
                    <a:pt x="229632" y="26842"/>
                  </a:lnTo>
                  <a:lnTo>
                    <a:pt x="260884" y="56957"/>
                  </a:lnTo>
                  <a:lnTo>
                    <a:pt x="281379" y="95147"/>
                  </a:lnTo>
                  <a:lnTo>
                    <a:pt x="288739" y="139120"/>
                  </a:lnTo>
                  <a:lnTo>
                    <a:pt x="281379" y="183092"/>
                  </a:lnTo>
                  <a:lnTo>
                    <a:pt x="260884" y="221282"/>
                  </a:lnTo>
                  <a:lnTo>
                    <a:pt x="229632" y="251398"/>
                  </a:lnTo>
                  <a:lnTo>
                    <a:pt x="190002" y="271147"/>
                  </a:lnTo>
                  <a:lnTo>
                    <a:pt x="144370" y="278240"/>
                  </a:lnTo>
                  <a:lnTo>
                    <a:pt x="98737" y="271147"/>
                  </a:lnTo>
                  <a:lnTo>
                    <a:pt x="59106" y="251398"/>
                  </a:lnTo>
                  <a:lnTo>
                    <a:pt x="27855" y="221282"/>
                  </a:lnTo>
                  <a:lnTo>
                    <a:pt x="7360" y="183092"/>
                  </a:lnTo>
                  <a:lnTo>
                    <a:pt x="0" y="139120"/>
                  </a:lnTo>
                  <a:close/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85838" y="1331309"/>
              <a:ext cx="335549" cy="2760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7319" y="1342512"/>
              <a:ext cx="291671" cy="2333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07319" y="1342512"/>
              <a:ext cx="292100" cy="233679"/>
            </a:xfrm>
            <a:custGeom>
              <a:avLst/>
              <a:gdLst/>
              <a:ahLst/>
              <a:cxnLst/>
              <a:rect l="l" t="t" r="r" b="b"/>
              <a:pathLst>
                <a:path w="292100" h="233680">
                  <a:moveTo>
                    <a:pt x="0" y="0"/>
                  </a:moveTo>
                  <a:lnTo>
                    <a:pt x="291671" y="0"/>
                  </a:lnTo>
                  <a:lnTo>
                    <a:pt x="291671" y="93347"/>
                  </a:lnTo>
                  <a:lnTo>
                    <a:pt x="0" y="93347"/>
                  </a:lnTo>
                  <a:lnTo>
                    <a:pt x="0" y="0"/>
                  </a:lnTo>
                  <a:close/>
                </a:path>
                <a:path w="292100" h="233680">
                  <a:moveTo>
                    <a:pt x="0" y="140021"/>
                  </a:moveTo>
                  <a:lnTo>
                    <a:pt x="291671" y="140021"/>
                  </a:lnTo>
                  <a:lnTo>
                    <a:pt x="291671" y="233369"/>
                  </a:lnTo>
                  <a:lnTo>
                    <a:pt x="0" y="233369"/>
                  </a:lnTo>
                  <a:lnTo>
                    <a:pt x="0" y="140021"/>
                  </a:lnTo>
                  <a:close/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19658" y="721546"/>
              <a:ext cx="571877" cy="57187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1498" y="732895"/>
              <a:ext cx="527858" cy="5278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41497" y="732895"/>
              <a:ext cx="528320" cy="528320"/>
            </a:xfrm>
            <a:custGeom>
              <a:avLst/>
              <a:gdLst/>
              <a:ahLst/>
              <a:cxnLst/>
              <a:rect l="l" t="t" r="r" b="b"/>
              <a:pathLst>
                <a:path w="528319" h="528319">
                  <a:moveTo>
                    <a:pt x="0" y="263929"/>
                  </a:moveTo>
                  <a:lnTo>
                    <a:pt x="118768" y="145161"/>
                  </a:lnTo>
                  <a:lnTo>
                    <a:pt x="118768" y="204545"/>
                  </a:lnTo>
                  <a:lnTo>
                    <a:pt x="204545" y="204545"/>
                  </a:lnTo>
                  <a:lnTo>
                    <a:pt x="204545" y="118768"/>
                  </a:lnTo>
                  <a:lnTo>
                    <a:pt x="145161" y="118768"/>
                  </a:lnTo>
                  <a:lnTo>
                    <a:pt x="263929" y="0"/>
                  </a:lnTo>
                  <a:lnTo>
                    <a:pt x="382697" y="118768"/>
                  </a:lnTo>
                  <a:lnTo>
                    <a:pt x="323313" y="118768"/>
                  </a:lnTo>
                  <a:lnTo>
                    <a:pt x="323313" y="204545"/>
                  </a:lnTo>
                  <a:lnTo>
                    <a:pt x="409090" y="204545"/>
                  </a:lnTo>
                  <a:lnTo>
                    <a:pt x="409090" y="145161"/>
                  </a:lnTo>
                  <a:lnTo>
                    <a:pt x="527858" y="263929"/>
                  </a:lnTo>
                  <a:lnTo>
                    <a:pt x="409090" y="382697"/>
                  </a:lnTo>
                  <a:lnTo>
                    <a:pt x="409090" y="323313"/>
                  </a:lnTo>
                  <a:lnTo>
                    <a:pt x="323313" y="323313"/>
                  </a:lnTo>
                  <a:lnTo>
                    <a:pt x="323313" y="409090"/>
                  </a:lnTo>
                  <a:lnTo>
                    <a:pt x="382697" y="409090"/>
                  </a:lnTo>
                  <a:lnTo>
                    <a:pt x="263929" y="527858"/>
                  </a:lnTo>
                  <a:lnTo>
                    <a:pt x="145161" y="409090"/>
                  </a:lnTo>
                  <a:lnTo>
                    <a:pt x="204545" y="409090"/>
                  </a:lnTo>
                  <a:lnTo>
                    <a:pt x="204545" y="323313"/>
                  </a:lnTo>
                  <a:lnTo>
                    <a:pt x="118768" y="323313"/>
                  </a:lnTo>
                  <a:lnTo>
                    <a:pt x="118768" y="382697"/>
                  </a:lnTo>
                  <a:lnTo>
                    <a:pt x="0" y="263929"/>
                  </a:lnTo>
                  <a:close/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01296" y="1513515"/>
              <a:ext cx="126281" cy="6241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64705" y="1579334"/>
              <a:ext cx="0" cy="530860"/>
            </a:xfrm>
            <a:custGeom>
              <a:avLst/>
              <a:gdLst/>
              <a:ahLst/>
              <a:cxnLst/>
              <a:rect l="l" t="t" r="r" b="b"/>
              <a:pathLst>
                <a:path w="0" h="530860">
                  <a:moveTo>
                    <a:pt x="0" y="530350"/>
                  </a:moveTo>
                  <a:lnTo>
                    <a:pt x="0" y="259705"/>
                  </a:lnTo>
                  <a:lnTo>
                    <a:pt x="0" y="0"/>
                  </a:lnTo>
                </a:path>
              </a:pathLst>
            </a:custGeom>
            <a:ln w="11024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839117" y="1568394"/>
              <a:ext cx="51435" cy="50800"/>
            </a:xfrm>
            <a:custGeom>
              <a:avLst/>
              <a:gdLst/>
              <a:ahLst/>
              <a:cxnLst/>
              <a:rect l="l" t="t" r="r" b="b"/>
              <a:pathLst>
                <a:path w="51435" h="50800">
                  <a:moveTo>
                    <a:pt x="25588" y="0"/>
                  </a:moveTo>
                  <a:lnTo>
                    <a:pt x="0" y="43865"/>
                  </a:lnTo>
                  <a:lnTo>
                    <a:pt x="888" y="47241"/>
                  </a:lnTo>
                  <a:lnTo>
                    <a:pt x="6147" y="50309"/>
                  </a:lnTo>
                  <a:lnTo>
                    <a:pt x="9523" y="49421"/>
                  </a:lnTo>
                  <a:lnTo>
                    <a:pt x="25588" y="21880"/>
                  </a:lnTo>
                  <a:lnTo>
                    <a:pt x="38351" y="21880"/>
                  </a:lnTo>
                  <a:lnTo>
                    <a:pt x="25588" y="0"/>
                  </a:lnTo>
                  <a:close/>
                </a:path>
                <a:path w="51435" h="50800">
                  <a:moveTo>
                    <a:pt x="38351" y="21880"/>
                  </a:moveTo>
                  <a:lnTo>
                    <a:pt x="25588" y="21880"/>
                  </a:lnTo>
                  <a:lnTo>
                    <a:pt x="41654" y="49421"/>
                  </a:lnTo>
                  <a:lnTo>
                    <a:pt x="45029" y="50309"/>
                  </a:lnTo>
                  <a:lnTo>
                    <a:pt x="50288" y="47241"/>
                  </a:lnTo>
                  <a:lnTo>
                    <a:pt x="51176" y="43865"/>
                  </a:lnTo>
                  <a:lnTo>
                    <a:pt x="38351" y="2188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81242" y="1246519"/>
              <a:ext cx="905622" cy="93629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05426" y="1260754"/>
              <a:ext cx="857250" cy="890269"/>
            </a:xfrm>
            <a:custGeom>
              <a:avLst/>
              <a:gdLst/>
              <a:ahLst/>
              <a:cxnLst/>
              <a:rect l="l" t="t" r="r" b="b"/>
              <a:pathLst>
                <a:path w="857250" h="890269">
                  <a:moveTo>
                    <a:pt x="0" y="0"/>
                  </a:moveTo>
                  <a:lnTo>
                    <a:pt x="857193" y="889677"/>
                  </a:lnTo>
                </a:path>
              </a:pathLst>
            </a:custGeom>
            <a:ln w="11024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41553" y="616913"/>
              <a:ext cx="1075200" cy="7973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905426" y="633674"/>
              <a:ext cx="948055" cy="698500"/>
            </a:xfrm>
            <a:custGeom>
              <a:avLst/>
              <a:gdLst/>
              <a:ahLst/>
              <a:cxnLst/>
              <a:rect l="l" t="t" r="r" b="b"/>
              <a:pathLst>
                <a:path w="948055" h="698500">
                  <a:moveTo>
                    <a:pt x="0" y="88281"/>
                  </a:moveTo>
                  <a:lnTo>
                    <a:pt x="0" y="0"/>
                  </a:lnTo>
                  <a:lnTo>
                    <a:pt x="947727" y="0"/>
                  </a:lnTo>
                  <a:lnTo>
                    <a:pt x="947727" y="697897"/>
                  </a:lnTo>
                </a:path>
              </a:pathLst>
            </a:custGeom>
            <a:ln w="11024">
              <a:solidFill>
                <a:srgbClr val="6095C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879828" y="682586"/>
              <a:ext cx="999490" cy="660400"/>
            </a:xfrm>
            <a:custGeom>
              <a:avLst/>
              <a:gdLst/>
              <a:ahLst/>
              <a:cxnLst/>
              <a:rect l="l" t="t" r="r" b="b"/>
              <a:pathLst>
                <a:path w="999489" h="660400">
                  <a:moveTo>
                    <a:pt x="51181" y="6451"/>
                  </a:moveTo>
                  <a:lnTo>
                    <a:pt x="50292" y="3073"/>
                  </a:lnTo>
                  <a:lnTo>
                    <a:pt x="45034" y="0"/>
                  </a:lnTo>
                  <a:lnTo>
                    <a:pt x="41656" y="889"/>
                  </a:lnTo>
                  <a:lnTo>
                    <a:pt x="25590" y="28435"/>
                  </a:lnTo>
                  <a:lnTo>
                    <a:pt x="9525" y="889"/>
                  </a:lnTo>
                  <a:lnTo>
                    <a:pt x="6146" y="0"/>
                  </a:lnTo>
                  <a:lnTo>
                    <a:pt x="889" y="3073"/>
                  </a:lnTo>
                  <a:lnTo>
                    <a:pt x="0" y="6451"/>
                  </a:lnTo>
                  <a:lnTo>
                    <a:pt x="25590" y="50317"/>
                  </a:lnTo>
                  <a:lnTo>
                    <a:pt x="38354" y="28435"/>
                  </a:lnTo>
                  <a:lnTo>
                    <a:pt x="51181" y="6451"/>
                  </a:lnTo>
                  <a:close/>
                </a:path>
                <a:path w="999489" h="660400">
                  <a:moveTo>
                    <a:pt x="998905" y="616064"/>
                  </a:moveTo>
                  <a:lnTo>
                    <a:pt x="998016" y="612686"/>
                  </a:lnTo>
                  <a:lnTo>
                    <a:pt x="992759" y="609625"/>
                  </a:lnTo>
                  <a:lnTo>
                    <a:pt x="989380" y="610514"/>
                  </a:lnTo>
                  <a:lnTo>
                    <a:pt x="973315" y="638048"/>
                  </a:lnTo>
                  <a:lnTo>
                    <a:pt x="957249" y="610514"/>
                  </a:lnTo>
                  <a:lnTo>
                    <a:pt x="953884" y="609625"/>
                  </a:lnTo>
                  <a:lnTo>
                    <a:pt x="948613" y="612686"/>
                  </a:lnTo>
                  <a:lnTo>
                    <a:pt x="947737" y="616064"/>
                  </a:lnTo>
                  <a:lnTo>
                    <a:pt x="973315" y="659930"/>
                  </a:lnTo>
                  <a:lnTo>
                    <a:pt x="986078" y="638048"/>
                  </a:lnTo>
                  <a:lnTo>
                    <a:pt x="998905" y="616064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01580" y="2254970"/>
              <a:ext cx="368021" cy="39869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3350" y="2266844"/>
              <a:ext cx="321157" cy="35439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23350" y="2266844"/>
              <a:ext cx="321310" cy="354965"/>
            </a:xfrm>
            <a:custGeom>
              <a:avLst/>
              <a:gdLst/>
              <a:ahLst/>
              <a:cxnLst/>
              <a:rect l="l" t="t" r="r" b="b"/>
              <a:pathLst>
                <a:path w="321310" h="354964">
                  <a:moveTo>
                    <a:pt x="75726" y="354392"/>
                  </a:moveTo>
                  <a:lnTo>
                    <a:pt x="43209" y="322136"/>
                  </a:lnTo>
                  <a:lnTo>
                    <a:pt x="19616" y="284574"/>
                  </a:lnTo>
                  <a:lnTo>
                    <a:pt x="5146" y="243379"/>
                  </a:lnTo>
                  <a:lnTo>
                    <a:pt x="0" y="200225"/>
                  </a:lnTo>
                  <a:lnTo>
                    <a:pt x="4375" y="156782"/>
                  </a:lnTo>
                  <a:lnTo>
                    <a:pt x="18472" y="114725"/>
                  </a:lnTo>
                  <a:lnTo>
                    <a:pt x="42491" y="75726"/>
                  </a:lnTo>
                  <a:lnTo>
                    <a:pt x="74747" y="43209"/>
                  </a:lnTo>
                  <a:lnTo>
                    <a:pt x="112309" y="19616"/>
                  </a:lnTo>
                  <a:lnTo>
                    <a:pt x="153504" y="5146"/>
                  </a:lnTo>
                  <a:lnTo>
                    <a:pt x="196659" y="0"/>
                  </a:lnTo>
                  <a:lnTo>
                    <a:pt x="240101" y="4375"/>
                  </a:lnTo>
                  <a:lnTo>
                    <a:pt x="282158" y="18472"/>
                  </a:lnTo>
                  <a:lnTo>
                    <a:pt x="321157" y="42491"/>
                  </a:lnTo>
                  <a:lnTo>
                    <a:pt x="271062" y="46370"/>
                  </a:lnTo>
                  <a:lnTo>
                    <a:pt x="224177" y="59740"/>
                  </a:lnTo>
                  <a:lnTo>
                    <a:pt x="181523" y="81627"/>
                  </a:lnTo>
                  <a:lnTo>
                    <a:pt x="144119" y="111057"/>
                  </a:lnTo>
                  <a:lnTo>
                    <a:pt x="112986" y="147056"/>
                  </a:lnTo>
                  <a:lnTo>
                    <a:pt x="89145" y="188650"/>
                  </a:lnTo>
                  <a:lnTo>
                    <a:pt x="73615" y="234865"/>
                  </a:lnTo>
                  <a:lnTo>
                    <a:pt x="67418" y="284726"/>
                  </a:lnTo>
                  <a:lnTo>
                    <a:pt x="67634" y="302331"/>
                  </a:lnTo>
                  <a:lnTo>
                    <a:pt x="69096" y="319854"/>
                  </a:lnTo>
                  <a:lnTo>
                    <a:pt x="71796" y="337230"/>
                  </a:lnTo>
                  <a:lnTo>
                    <a:pt x="75726" y="354392"/>
                  </a:lnTo>
                  <a:close/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04978" y="2491298"/>
              <a:ext cx="503323" cy="37343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6254" y="2503421"/>
              <a:ext cx="460387" cy="32872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426254" y="2503421"/>
              <a:ext cx="461009" cy="328930"/>
            </a:xfrm>
            <a:custGeom>
              <a:avLst/>
              <a:gdLst/>
              <a:ahLst/>
              <a:cxnLst/>
              <a:rect l="l" t="t" r="r" b="b"/>
              <a:pathLst>
                <a:path w="461010" h="328930">
                  <a:moveTo>
                    <a:pt x="0" y="56046"/>
                  </a:moveTo>
                  <a:lnTo>
                    <a:pt x="396338" y="56046"/>
                  </a:lnTo>
                  <a:lnTo>
                    <a:pt x="396338" y="274848"/>
                  </a:lnTo>
                  <a:lnTo>
                    <a:pt x="342439" y="277163"/>
                  </a:lnTo>
                  <a:lnTo>
                    <a:pt x="298051" y="283266"/>
                  </a:lnTo>
                  <a:lnTo>
                    <a:pt x="260797" y="291895"/>
                  </a:lnTo>
                  <a:lnTo>
                    <a:pt x="228298" y="301787"/>
                  </a:lnTo>
                  <a:lnTo>
                    <a:pt x="198177" y="311678"/>
                  </a:lnTo>
                  <a:lnTo>
                    <a:pt x="168055" y="320307"/>
                  </a:lnTo>
                  <a:lnTo>
                    <a:pt x="135554" y="326411"/>
                  </a:lnTo>
                  <a:lnTo>
                    <a:pt x="98297" y="328726"/>
                  </a:lnTo>
                  <a:lnTo>
                    <a:pt x="53904" y="325990"/>
                  </a:lnTo>
                  <a:lnTo>
                    <a:pt x="0" y="316940"/>
                  </a:lnTo>
                  <a:lnTo>
                    <a:pt x="0" y="56046"/>
                  </a:lnTo>
                  <a:close/>
                </a:path>
                <a:path w="461010" h="328930">
                  <a:moveTo>
                    <a:pt x="32653" y="56046"/>
                  </a:moveTo>
                  <a:lnTo>
                    <a:pt x="32653" y="27680"/>
                  </a:lnTo>
                  <a:lnTo>
                    <a:pt x="426284" y="27680"/>
                  </a:lnTo>
                  <a:lnTo>
                    <a:pt x="426284" y="247854"/>
                  </a:lnTo>
                  <a:lnTo>
                    <a:pt x="415293" y="248092"/>
                  </a:lnTo>
                  <a:lnTo>
                    <a:pt x="405700" y="248617"/>
                  </a:lnTo>
                  <a:lnTo>
                    <a:pt x="398913" y="249141"/>
                  </a:lnTo>
                  <a:lnTo>
                    <a:pt x="396338" y="249379"/>
                  </a:lnTo>
                </a:path>
                <a:path w="461010" h="328930">
                  <a:moveTo>
                    <a:pt x="63345" y="27680"/>
                  </a:moveTo>
                  <a:lnTo>
                    <a:pt x="63345" y="0"/>
                  </a:lnTo>
                  <a:lnTo>
                    <a:pt x="460387" y="0"/>
                  </a:lnTo>
                  <a:lnTo>
                    <a:pt x="460387" y="219488"/>
                  </a:lnTo>
                  <a:lnTo>
                    <a:pt x="447865" y="219666"/>
                  </a:lnTo>
                  <a:lnTo>
                    <a:pt x="436942" y="220060"/>
                  </a:lnTo>
                  <a:lnTo>
                    <a:pt x="429215" y="220453"/>
                  </a:lnTo>
                  <a:lnTo>
                    <a:pt x="426284" y="220632"/>
                  </a:lnTo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5309" y="1369193"/>
              <a:ext cx="496107" cy="49610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7767" y="1381094"/>
              <a:ext cx="452450" cy="45245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37767" y="1381093"/>
              <a:ext cx="452755" cy="452755"/>
            </a:xfrm>
            <a:custGeom>
              <a:avLst/>
              <a:gdLst/>
              <a:ahLst/>
              <a:cxnLst/>
              <a:rect l="l" t="t" r="r" b="b"/>
              <a:pathLst>
                <a:path w="452755" h="452755">
                  <a:moveTo>
                    <a:pt x="226225" y="56556"/>
                  </a:moveTo>
                  <a:lnTo>
                    <a:pt x="289850" y="120182"/>
                  </a:lnTo>
                  <a:lnTo>
                    <a:pt x="289850" y="77764"/>
                  </a:lnTo>
                  <a:lnTo>
                    <a:pt x="332268" y="77764"/>
                  </a:lnTo>
                  <a:lnTo>
                    <a:pt x="332268" y="162599"/>
                  </a:lnTo>
                  <a:lnTo>
                    <a:pt x="395893" y="226225"/>
                  </a:lnTo>
                  <a:lnTo>
                    <a:pt x="353476" y="226225"/>
                  </a:lnTo>
                  <a:lnTo>
                    <a:pt x="353476" y="395893"/>
                  </a:lnTo>
                  <a:lnTo>
                    <a:pt x="98973" y="395893"/>
                  </a:lnTo>
                  <a:lnTo>
                    <a:pt x="98973" y="226225"/>
                  </a:lnTo>
                  <a:lnTo>
                    <a:pt x="56556" y="226225"/>
                  </a:lnTo>
                  <a:lnTo>
                    <a:pt x="226225" y="56556"/>
                  </a:lnTo>
                  <a:close/>
                </a:path>
                <a:path w="452755" h="452755">
                  <a:moveTo>
                    <a:pt x="289850" y="120182"/>
                  </a:moveTo>
                  <a:lnTo>
                    <a:pt x="332268" y="162599"/>
                  </a:lnTo>
                </a:path>
                <a:path w="452755" h="452755">
                  <a:moveTo>
                    <a:pt x="353476" y="226225"/>
                  </a:moveTo>
                  <a:lnTo>
                    <a:pt x="98973" y="226225"/>
                  </a:lnTo>
                </a:path>
                <a:path w="452755" h="452755">
                  <a:moveTo>
                    <a:pt x="205016" y="395893"/>
                  </a:moveTo>
                  <a:lnTo>
                    <a:pt x="205016" y="311059"/>
                  </a:lnTo>
                  <a:lnTo>
                    <a:pt x="247433" y="311059"/>
                  </a:lnTo>
                  <a:lnTo>
                    <a:pt x="247433" y="395893"/>
                  </a:lnTo>
                </a:path>
                <a:path w="452755" h="452755">
                  <a:moveTo>
                    <a:pt x="0" y="0"/>
                  </a:moveTo>
                  <a:lnTo>
                    <a:pt x="452450" y="0"/>
                  </a:lnTo>
                  <a:lnTo>
                    <a:pt x="452450" y="452450"/>
                  </a:lnTo>
                  <a:lnTo>
                    <a:pt x="0" y="452450"/>
                  </a:lnTo>
                  <a:lnTo>
                    <a:pt x="0" y="0"/>
                  </a:lnTo>
                  <a:close/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3073704" y="2493102"/>
            <a:ext cx="505459" cy="342900"/>
            <a:chOff x="3073704" y="2493102"/>
            <a:chExt cx="505459" cy="342900"/>
          </a:xfrm>
        </p:grpSpPr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73704" y="2493102"/>
              <a:ext cx="505127" cy="34276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61320" y="2503421"/>
              <a:ext cx="396886" cy="26591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095171" y="2503421"/>
              <a:ext cx="33655" cy="300990"/>
            </a:xfrm>
            <a:custGeom>
              <a:avLst/>
              <a:gdLst/>
              <a:ahLst/>
              <a:cxnLst/>
              <a:rect l="l" t="t" r="r" b="b"/>
              <a:pathLst>
                <a:path w="33655" h="300989">
                  <a:moveTo>
                    <a:pt x="33076" y="0"/>
                  </a:moveTo>
                  <a:lnTo>
                    <a:pt x="33076" y="265913"/>
                  </a:lnTo>
                </a:path>
                <a:path w="33655" h="300989">
                  <a:moveTo>
                    <a:pt x="33076" y="49859"/>
                  </a:moveTo>
                  <a:lnTo>
                    <a:pt x="0" y="49859"/>
                  </a:lnTo>
                  <a:lnTo>
                    <a:pt x="0" y="265913"/>
                  </a:lnTo>
                  <a:lnTo>
                    <a:pt x="33076" y="300384"/>
                  </a:lnTo>
                </a:path>
              </a:pathLst>
            </a:custGeom>
            <a:ln w="413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776234" y="3052869"/>
            <a:ext cx="1056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Caption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#2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>
                <a:hlinkClick r:id="rId2"/>
              </a:rPr>
              <a:t>https://doi.org/10.1038/s44335-</a:t>
            </a:r>
            <a:r>
              <a:rPr dirty="0" spc="-10">
                <a:hlinkClick r:id="rId2"/>
              </a:rPr>
              <a:t>025-00044-</a:t>
            </a:r>
            <a:r>
              <a:rPr dirty="0" spc="-50">
                <a:hlinkClick r:id="rId2"/>
              </a:rPr>
              <a:t>2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Tahoma"/>
                <a:cs typeface="Tahoma"/>
              </a:rPr>
              <a:t>“Achieving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high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precision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analog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in-memory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computing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systems”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404" y="879449"/>
            <a:ext cx="4005821" cy="17441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6234" y="2829679"/>
            <a:ext cx="1056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Caption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#2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>
                <a:hlinkClick r:id="rId2"/>
              </a:rPr>
              <a:t>https://doi.org/10.1109/IEDM13553.2020.9372124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Tahoma"/>
                <a:cs typeface="Tahoma"/>
              </a:rPr>
              <a:t>“Ultra-Low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Power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Flexible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Precision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FeFET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Based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Analog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In-</a:t>
            </a:r>
            <a:r>
              <a:rPr dirty="0" sz="900" spc="-20">
                <a:latin typeface="Tahoma"/>
                <a:cs typeface="Tahoma"/>
              </a:rPr>
              <a:t>Memory</a:t>
            </a:r>
            <a:r>
              <a:rPr dirty="0" sz="900" spc="1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Computing”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780" y="574036"/>
            <a:ext cx="3288412" cy="23125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76234" y="3052869"/>
            <a:ext cx="1056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Caption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#2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</a:t>
            </a:r>
            <a:r>
              <a:rPr dirty="0"/>
              <a:t>am</a:t>
            </a:r>
            <a:r>
              <a:rPr dirty="0" spc="150"/>
              <a:t> </a:t>
            </a:r>
            <a:r>
              <a:rPr dirty="0"/>
              <a:t>Members’</a:t>
            </a:r>
            <a:r>
              <a:rPr dirty="0" spc="150"/>
              <a:t> </a:t>
            </a:r>
            <a:r>
              <a:rPr dirty="0"/>
              <a:t>Experiences</a:t>
            </a:r>
            <a:r>
              <a:rPr dirty="0" spc="150"/>
              <a:t> </a:t>
            </a:r>
            <a:r>
              <a:rPr dirty="0"/>
              <a:t>–</a:t>
            </a:r>
            <a:r>
              <a:rPr dirty="0" spc="150"/>
              <a:t> </a:t>
            </a:r>
            <a:r>
              <a:rPr dirty="0"/>
              <a:t>Zhiyang</a:t>
            </a:r>
            <a:r>
              <a:rPr dirty="0" spc="150"/>
              <a:t> </a:t>
            </a:r>
            <a:r>
              <a:rPr dirty="0" spc="-25"/>
              <a:t>Ong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527214"/>
            <a:ext cx="3856990" cy="251714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Zhiyang</a:t>
            </a:r>
            <a:r>
              <a:rPr dirty="0" sz="1100" spc="-20">
                <a:latin typeface="Tahoma"/>
                <a:cs typeface="Tahoma"/>
              </a:rPr>
              <a:t> Ong:</a:t>
            </a:r>
            <a:endParaRPr sz="1100">
              <a:latin typeface="Tahoma"/>
              <a:cs typeface="Tahoma"/>
            </a:endParaRPr>
          </a:p>
          <a:p>
            <a:pPr marL="324485">
              <a:lnSpc>
                <a:spcPts val="1200"/>
              </a:lnSpc>
              <a:spcBef>
                <a:spcPts val="175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300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Tahoma"/>
                <a:cs typeface="Tahoma"/>
              </a:rPr>
              <a:t>32-</a:t>
            </a:r>
            <a:r>
              <a:rPr dirty="0" sz="1000">
                <a:latin typeface="Tahoma"/>
                <a:cs typeface="Tahoma"/>
              </a:rPr>
              <a:t>kbit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synchronous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SRAM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32-</a:t>
            </a:r>
            <a:r>
              <a:rPr dirty="0" sz="1000">
                <a:latin typeface="Tahoma"/>
                <a:cs typeface="Tahoma"/>
              </a:rPr>
              <a:t>bit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words</a:t>
            </a:r>
            <a:endParaRPr sz="1000">
              <a:latin typeface="Tahoma"/>
              <a:cs typeface="Tahoma"/>
            </a:endParaRPr>
          </a:p>
          <a:p>
            <a:pPr marL="492125" marR="30480" indent="-168275">
              <a:lnSpc>
                <a:spcPts val="1200"/>
              </a:lnSpc>
              <a:spcBef>
                <a:spcPts val="40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84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MIPS </a:t>
            </a:r>
            <a:r>
              <a:rPr dirty="0" sz="1000" spc="-45">
                <a:latin typeface="Tahoma"/>
                <a:cs typeface="Tahoma"/>
              </a:rPr>
              <a:t>processor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architectures:</a:t>
            </a:r>
            <a:r>
              <a:rPr dirty="0" sz="1000" spc="10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single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cycle,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multi-</a:t>
            </a:r>
            <a:r>
              <a:rPr dirty="0" sz="1000" spc="-20">
                <a:latin typeface="Tahoma"/>
                <a:cs typeface="Tahoma"/>
              </a:rPr>
              <a:t>cycle,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5-</a:t>
            </a:r>
            <a:r>
              <a:rPr dirty="0" sz="1000" spc="-25">
                <a:latin typeface="Tahoma"/>
                <a:cs typeface="Tahoma"/>
              </a:rPr>
              <a:t>stage </a:t>
            </a:r>
            <a:r>
              <a:rPr dirty="0" sz="1000" spc="-30">
                <a:latin typeface="Tahoma"/>
                <a:cs typeface="Tahoma"/>
              </a:rPr>
              <a:t>pipelined,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128-</a:t>
            </a:r>
            <a:r>
              <a:rPr dirty="0" sz="1000" spc="-25">
                <a:latin typeface="Tahoma"/>
                <a:cs typeface="Tahoma"/>
              </a:rPr>
              <a:t>bit</a:t>
            </a:r>
            <a:endParaRPr sz="1000">
              <a:latin typeface="Tahoma"/>
              <a:cs typeface="Tahoma"/>
            </a:endParaRPr>
          </a:p>
          <a:p>
            <a:pPr marL="324485">
              <a:lnSpc>
                <a:spcPts val="1150"/>
              </a:lnSpc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1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Viterbi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decoder,</a:t>
            </a:r>
            <a:r>
              <a:rPr dirty="0" sz="1000" spc="-25">
                <a:latin typeface="Tahoma"/>
                <a:cs typeface="Tahoma"/>
              </a:rPr>
              <a:t> and </a:t>
            </a:r>
            <a:r>
              <a:rPr dirty="0" sz="1000" spc="-35">
                <a:latin typeface="Tahoma"/>
                <a:cs typeface="Tahoma"/>
              </a:rPr>
              <a:t>encoder/decoder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pairs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linear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code</a:t>
            </a:r>
            <a:endParaRPr sz="1000">
              <a:latin typeface="Tahoma"/>
              <a:cs typeface="Tahoma"/>
            </a:endParaRPr>
          </a:p>
          <a:p>
            <a:pPr marL="492125" marR="130175" indent="-168275">
              <a:lnSpc>
                <a:spcPts val="1200"/>
              </a:lnSpc>
              <a:spcBef>
                <a:spcPts val="35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32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latin typeface="Tahoma"/>
                <a:cs typeface="Tahoma"/>
              </a:rPr>
              <a:t>64-</a:t>
            </a:r>
            <a:r>
              <a:rPr dirty="0" sz="1000">
                <a:latin typeface="Tahoma"/>
                <a:cs typeface="Tahoma"/>
              </a:rPr>
              <a:t>bit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Ladner-</a:t>
            </a:r>
            <a:r>
              <a:rPr dirty="0" sz="1000" spc="-25">
                <a:latin typeface="Tahoma"/>
                <a:cs typeface="Tahoma"/>
              </a:rPr>
              <a:t>Fischer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tree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adder,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skew</a:t>
            </a:r>
            <a:r>
              <a:rPr dirty="0" sz="1000" spc="-20">
                <a:latin typeface="Tahoma"/>
                <a:cs typeface="Tahoma"/>
              </a:rPr>
              <a:t> tolerant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domino logic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logical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effort</a:t>
            </a:r>
            <a:endParaRPr sz="1000">
              <a:latin typeface="Tahoma"/>
              <a:cs typeface="Tahoma"/>
            </a:endParaRPr>
          </a:p>
          <a:p>
            <a:pPr marL="324485">
              <a:lnSpc>
                <a:spcPts val="1150"/>
              </a:lnSpc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09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FIR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filter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bilinear </a:t>
            </a:r>
            <a:r>
              <a:rPr dirty="0" sz="1000" spc="-35">
                <a:latin typeface="Tahoma"/>
                <a:cs typeface="Tahoma"/>
              </a:rPr>
              <a:t>transformation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analog</a:t>
            </a:r>
            <a:endParaRPr sz="1000">
              <a:latin typeface="Tahoma"/>
              <a:cs typeface="Tahoma"/>
            </a:endParaRPr>
          </a:p>
          <a:p>
            <a:pPr marL="492125">
              <a:lnSpc>
                <a:spcPts val="1195"/>
              </a:lnSpc>
            </a:pPr>
            <a:r>
              <a:rPr dirty="0" sz="1000" spc="-20">
                <a:latin typeface="Tahoma"/>
                <a:cs typeface="Tahoma"/>
              </a:rPr>
              <a:t>Butterworth </a:t>
            </a:r>
            <a:r>
              <a:rPr dirty="0" sz="1000" spc="-10">
                <a:latin typeface="Tahoma"/>
                <a:cs typeface="Tahoma"/>
              </a:rPr>
              <a:t>filter</a:t>
            </a:r>
            <a:endParaRPr sz="1000">
              <a:latin typeface="Tahoma"/>
              <a:cs typeface="Tahoma"/>
            </a:endParaRPr>
          </a:p>
          <a:p>
            <a:pPr marL="492125" marR="64769" indent="-168275">
              <a:lnSpc>
                <a:spcPts val="1200"/>
              </a:lnSpc>
              <a:spcBef>
                <a:spcPts val="40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02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latin typeface="Tahoma"/>
                <a:cs typeface="Tahoma"/>
              </a:rPr>
              <a:t>high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frequency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Colpitts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oscillator,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operating</a:t>
            </a:r>
            <a:r>
              <a:rPr dirty="0" sz="1000" spc="-35">
                <a:latin typeface="Tahoma"/>
                <a:cs typeface="Tahoma"/>
              </a:rPr>
              <a:t> frequency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20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MHz</a:t>
            </a:r>
            <a:endParaRPr sz="1000">
              <a:latin typeface="Tahoma"/>
              <a:cs typeface="Tahoma"/>
            </a:endParaRPr>
          </a:p>
          <a:p>
            <a:pPr marL="324485">
              <a:lnSpc>
                <a:spcPts val="1150"/>
              </a:lnSpc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62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audio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amplifier:</a:t>
            </a:r>
            <a:r>
              <a:rPr dirty="0" sz="1000" spc="9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power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70">
                <a:latin typeface="Tahoma"/>
                <a:cs typeface="Tahoma"/>
              </a:rPr>
              <a:t>&amp;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pre-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amplifiers,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active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filters,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20">
                <a:latin typeface="Tahoma"/>
                <a:cs typeface="Tahoma"/>
              </a:rPr>
              <a:t>&amp;</a:t>
            </a:r>
            <a:endParaRPr sz="1000">
              <a:latin typeface="Tahoma"/>
              <a:cs typeface="Tahoma"/>
            </a:endParaRPr>
          </a:p>
          <a:p>
            <a:pPr marL="492125">
              <a:lnSpc>
                <a:spcPts val="1195"/>
              </a:lnSpc>
            </a:pPr>
            <a:r>
              <a:rPr dirty="0" sz="1000" spc="-20">
                <a:latin typeface="Tahoma"/>
                <a:cs typeface="Tahoma"/>
              </a:rPr>
              <a:t>RC-</a:t>
            </a:r>
            <a:r>
              <a:rPr dirty="0" sz="1000">
                <a:latin typeface="Tahoma"/>
                <a:cs typeface="Tahoma"/>
              </a:rPr>
              <a:t>filter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bridge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rectifier</a:t>
            </a:r>
            <a:endParaRPr sz="1000">
              <a:latin typeface="Tahoma"/>
              <a:cs typeface="Tahoma"/>
            </a:endParaRPr>
          </a:p>
          <a:p>
            <a:pPr marL="492125" marR="248285" indent="-168275">
              <a:lnSpc>
                <a:spcPts val="1200"/>
              </a:lnSpc>
              <a:spcBef>
                <a:spcPts val="40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33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EDA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projects:</a:t>
            </a:r>
            <a:r>
              <a:rPr dirty="0" sz="1000" spc="13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gate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sizing,,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SRAM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CAD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design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space </a:t>
            </a:r>
            <a:r>
              <a:rPr dirty="0" sz="1000" spc="-30">
                <a:latin typeface="Tahoma"/>
                <a:cs typeface="Tahoma"/>
              </a:rPr>
              <a:t>exploration,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hardware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generators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encoder/decoder</a:t>
            </a:r>
            <a:r>
              <a:rPr dirty="0" sz="1000" spc="-20">
                <a:latin typeface="Tahoma"/>
                <a:cs typeface="Tahoma"/>
              </a:rPr>
              <a:t> pairs </a:t>
            </a:r>
            <a:r>
              <a:rPr dirty="0" sz="1000" spc="-30">
                <a:latin typeface="Tahoma"/>
                <a:cs typeface="Tahoma"/>
              </a:rPr>
              <a:t>targeting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linear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code,</a:t>
            </a:r>
            <a:r>
              <a:rPr dirty="0" sz="1000" spc="-10">
                <a:latin typeface="Tahoma"/>
                <a:cs typeface="Tahoma"/>
              </a:rPr>
              <a:t> logic </a:t>
            </a:r>
            <a:r>
              <a:rPr dirty="0" sz="1000" spc="-30">
                <a:latin typeface="Tahoma"/>
                <a:cs typeface="Tahoma"/>
              </a:rPr>
              <a:t>simulator,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50">
                <a:latin typeface="Tahoma"/>
                <a:cs typeface="Tahoma"/>
              </a:rPr>
              <a:t>PODEM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ATPG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Ta</a:t>
            </a:r>
            <a:r>
              <a:rPr dirty="0" spc="-20"/>
              <a:t>s</a:t>
            </a:r>
            <a:r>
              <a:rPr dirty="0" spc="-20"/>
              <a:t>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51064"/>
            <a:ext cx="3914140" cy="2256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Search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-35">
                <a:latin typeface="Tahoma"/>
                <a:cs typeface="Tahoma"/>
              </a:rPr>
              <a:t> in-</a:t>
            </a:r>
            <a:r>
              <a:rPr dirty="0" sz="1100" spc="-65">
                <a:latin typeface="Tahoma"/>
                <a:cs typeface="Tahoma"/>
              </a:rPr>
              <a:t>memory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 </a:t>
            </a:r>
            <a:r>
              <a:rPr dirty="0" sz="1100" spc="-10">
                <a:latin typeface="Tahoma"/>
                <a:cs typeface="Tahoma"/>
              </a:rPr>
              <a:t>circuit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12700" marR="81280">
              <a:lnSpc>
                <a:spcPct val="102600"/>
              </a:lnSpc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semiconductor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device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supported</a:t>
            </a:r>
            <a:r>
              <a:rPr dirty="0" sz="1100" spc="-30">
                <a:latin typeface="Tahoma"/>
                <a:cs typeface="Tahoma"/>
              </a:rPr>
              <a:t> by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GF180 </a:t>
            </a:r>
            <a:r>
              <a:rPr dirty="0" sz="1100">
                <a:latin typeface="Tahoma"/>
                <a:cs typeface="Tahoma"/>
              </a:rPr>
              <a:t>PDK,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just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have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use</a:t>
            </a:r>
            <a:r>
              <a:rPr dirty="0" sz="1100">
                <a:latin typeface="Tahoma"/>
                <a:cs typeface="Tahoma"/>
              </a:rPr>
              <a:t> a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semiconductor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device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model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(e.g.,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30">
                <a:latin typeface="Tahoma"/>
                <a:cs typeface="Tahoma"/>
              </a:rPr>
              <a:t>compact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model)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approximate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real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device.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also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done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circuit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simulators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anyway.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20">
                <a:latin typeface="Tahoma"/>
                <a:cs typeface="Tahoma"/>
              </a:rPr>
              <a:t>Use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script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create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Gantt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chart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schedule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of </a:t>
            </a:r>
            <a:r>
              <a:rPr dirty="0" sz="1100" spc="-40">
                <a:latin typeface="Tahoma"/>
                <a:cs typeface="Tahoma"/>
              </a:rPr>
              <a:t>expected/required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tasks,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critical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project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management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that </a:t>
            </a:r>
            <a:r>
              <a:rPr dirty="0" sz="1100" spc="-25">
                <a:latin typeface="Tahoma"/>
                <a:cs typeface="Tahoma"/>
              </a:rPr>
              <a:t>they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would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want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85">
                <a:latin typeface="Tahoma"/>
                <a:cs typeface="Tahoma"/>
              </a:rPr>
              <a:t>see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detailed project </a:t>
            </a:r>
            <a:r>
              <a:rPr dirty="0" sz="1100" spc="-40">
                <a:latin typeface="Tahoma"/>
                <a:cs typeface="Tahoma"/>
              </a:rPr>
              <a:t>proposal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document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12700" marR="8890">
              <a:lnSpc>
                <a:spcPct val="102600"/>
              </a:lnSpc>
              <a:spcBef>
                <a:spcPts val="5"/>
              </a:spcBef>
            </a:pPr>
            <a:r>
              <a:rPr dirty="0" sz="1100" spc="-20">
                <a:latin typeface="Tahoma"/>
                <a:cs typeface="Tahoma"/>
              </a:rPr>
              <a:t>When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concur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in-</a:t>
            </a:r>
            <a:r>
              <a:rPr dirty="0" sz="1100" spc="-60">
                <a:latin typeface="Tahoma"/>
                <a:cs typeface="Tahoma"/>
              </a:rPr>
              <a:t>memory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computing </a:t>
            </a:r>
            <a:r>
              <a:rPr dirty="0" sz="1100" spc="-55">
                <a:latin typeface="Tahoma"/>
                <a:cs typeface="Tahoma"/>
              </a:rPr>
              <a:t>design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 spc="-40">
                <a:latin typeface="Tahoma"/>
                <a:cs typeface="Tahoma"/>
              </a:rPr>
              <a:t>implement,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specify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block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diagram and </a:t>
            </a:r>
            <a:r>
              <a:rPr dirty="0" sz="1100" spc="-40">
                <a:latin typeface="Tahoma"/>
                <a:cs typeface="Tahoma"/>
              </a:rPr>
              <a:t>pin-</a:t>
            </a:r>
            <a:r>
              <a:rPr dirty="0" sz="1100" spc="-20">
                <a:latin typeface="Tahoma"/>
                <a:cs typeface="Tahoma"/>
              </a:rPr>
              <a:t>out.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Ta</a:t>
            </a:r>
            <a:r>
              <a:rPr dirty="0" spc="-20"/>
              <a:t>s</a:t>
            </a:r>
            <a:r>
              <a:rPr dirty="0" spc="-20"/>
              <a:t>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16545"/>
            <a:ext cx="3851910" cy="234061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214629" marR="139065" indent="-177165">
              <a:lnSpc>
                <a:spcPts val="1200"/>
              </a:lnSpc>
              <a:spcBef>
                <a:spcPts val="229"/>
              </a:spcBef>
            </a:pPr>
            <a:r>
              <a:rPr dirty="0" baseline="5050" sz="165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5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Tahoma"/>
                <a:cs typeface="Tahoma"/>
              </a:rPr>
              <a:t>search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sets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analog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signals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test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 </a:t>
            </a:r>
            <a:r>
              <a:rPr dirty="0" sz="1100" spc="-40">
                <a:latin typeface="Tahoma"/>
                <a:cs typeface="Tahoma"/>
              </a:rPr>
              <a:t>analog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in-</a:t>
            </a:r>
            <a:r>
              <a:rPr dirty="0" sz="1100" spc="-50">
                <a:latin typeface="Tahoma"/>
                <a:cs typeface="Tahoma"/>
              </a:rPr>
              <a:t>memory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computing:</a:t>
            </a:r>
            <a:endParaRPr sz="1100">
              <a:latin typeface="Tahoma"/>
              <a:cs typeface="Tahoma"/>
            </a:endParaRPr>
          </a:p>
          <a:p>
            <a:pPr algn="just" marL="324485">
              <a:lnSpc>
                <a:spcPts val="1200"/>
              </a:lnSpc>
              <a:spcBef>
                <a:spcPts val="150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300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latin typeface="Tahoma"/>
                <a:cs typeface="Tahoma"/>
              </a:rPr>
              <a:t>environmental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algn="just" marL="492125" marR="217804" indent="-168275">
              <a:lnSpc>
                <a:spcPts val="1200"/>
              </a:lnSpc>
              <a:spcBef>
                <a:spcPts val="35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18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latin typeface="Tahoma"/>
                <a:cs typeface="Tahoma"/>
              </a:rPr>
              <a:t>stock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price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stock</a:t>
            </a:r>
            <a:r>
              <a:rPr dirty="0" sz="1000" spc="-35">
                <a:latin typeface="Tahoma"/>
                <a:cs typeface="Tahoma"/>
              </a:rPr>
              <a:t> market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index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financial </a:t>
            </a:r>
            <a:r>
              <a:rPr dirty="0" sz="1000" spc="-45">
                <a:latin typeface="Tahoma"/>
                <a:cs typeface="Tahoma"/>
              </a:rPr>
              <a:t>engineering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(can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be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tested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mock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stock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market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trading platforms)</a:t>
            </a:r>
            <a:endParaRPr sz="1000">
              <a:latin typeface="Tahoma"/>
              <a:cs typeface="Tahoma"/>
            </a:endParaRPr>
          </a:p>
          <a:p>
            <a:pPr algn="just" marL="324485">
              <a:lnSpc>
                <a:spcPts val="1145"/>
              </a:lnSpc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1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audio </a:t>
            </a:r>
            <a:r>
              <a:rPr dirty="0" sz="1000" spc="-30">
                <a:latin typeface="Tahoma"/>
                <a:cs typeface="Tahoma"/>
              </a:rPr>
              <a:t>information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(avoid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human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except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public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algn="just" marL="492125" marR="30480">
              <a:lnSpc>
                <a:spcPts val="1200"/>
              </a:lnSpc>
              <a:spcBef>
                <a:spcPts val="40"/>
              </a:spcBef>
            </a:pPr>
            <a:r>
              <a:rPr dirty="0" sz="1000" spc="-45">
                <a:latin typeface="Tahoma"/>
                <a:cs typeface="Tahoma"/>
              </a:rPr>
              <a:t>sets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20">
                <a:latin typeface="Tahoma"/>
                <a:cs typeface="Tahoma"/>
              </a:rPr>
              <a:t> reflect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inclusive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diversity,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avoid </a:t>
            </a:r>
            <a:r>
              <a:rPr dirty="0" sz="1000" spc="-10">
                <a:latin typeface="Tahoma"/>
                <a:cs typeface="Tahoma"/>
              </a:rPr>
              <a:t>institutional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review </a:t>
            </a:r>
            <a:r>
              <a:rPr dirty="0" sz="1000" spc="-30">
                <a:latin typeface="Tahoma"/>
                <a:cs typeface="Tahoma"/>
              </a:rPr>
              <a:t>board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requirements)</a:t>
            </a:r>
            <a:endParaRPr sz="1000">
              <a:latin typeface="Tahoma"/>
              <a:cs typeface="Tahoma"/>
            </a:endParaRPr>
          </a:p>
          <a:p>
            <a:pPr marL="324485">
              <a:lnSpc>
                <a:spcPts val="1150"/>
              </a:lnSpc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40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thermal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measurements</a:t>
            </a:r>
            <a:endParaRPr sz="1000">
              <a:latin typeface="Tahoma"/>
              <a:cs typeface="Tahoma"/>
            </a:endParaRPr>
          </a:p>
          <a:p>
            <a:pPr marL="492125" marR="134620" indent="-168275">
              <a:lnSpc>
                <a:spcPts val="1200"/>
              </a:lnSpc>
              <a:spcBef>
                <a:spcPts val="40"/>
              </a:spcBef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32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latin typeface="Tahoma"/>
                <a:cs typeface="Tahoma"/>
              </a:rPr>
              <a:t>chemical,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biochemical,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medical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(avoid </a:t>
            </a:r>
            <a:r>
              <a:rPr dirty="0" sz="1000" spc="-45">
                <a:latin typeface="Tahoma"/>
                <a:cs typeface="Tahoma"/>
              </a:rPr>
              <a:t>human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data, </a:t>
            </a:r>
            <a:r>
              <a:rPr dirty="0" sz="1000" spc="-35">
                <a:latin typeface="Tahoma"/>
                <a:cs typeface="Tahoma"/>
              </a:rPr>
              <a:t>except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public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sets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reflect</a:t>
            </a:r>
            <a:r>
              <a:rPr dirty="0" sz="1000" spc="-30">
                <a:latin typeface="Tahoma"/>
                <a:cs typeface="Tahoma"/>
              </a:rPr>
              <a:t> inclusive </a:t>
            </a:r>
            <a:r>
              <a:rPr dirty="0" sz="1000" spc="-40">
                <a:latin typeface="Tahoma"/>
                <a:cs typeface="Tahoma"/>
              </a:rPr>
              <a:t>diversity,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20">
                <a:latin typeface="Tahoma"/>
                <a:cs typeface="Tahoma"/>
              </a:rPr>
              <a:t>avoid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institutional</a:t>
            </a:r>
            <a:r>
              <a:rPr dirty="0" sz="1000" spc="-40">
                <a:latin typeface="Tahoma"/>
                <a:cs typeface="Tahoma"/>
              </a:rPr>
              <a:t> review </a:t>
            </a:r>
            <a:r>
              <a:rPr dirty="0" sz="1000" spc="-30">
                <a:latin typeface="Tahoma"/>
                <a:cs typeface="Tahoma"/>
              </a:rPr>
              <a:t>board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requirements)</a:t>
            </a:r>
            <a:endParaRPr sz="1000">
              <a:latin typeface="Tahoma"/>
              <a:cs typeface="Tahoma"/>
            </a:endParaRPr>
          </a:p>
          <a:p>
            <a:pPr marL="324485">
              <a:lnSpc>
                <a:spcPts val="1145"/>
              </a:lnSpc>
            </a:pPr>
            <a:r>
              <a:rPr dirty="0" baseline="8333" sz="1500">
                <a:solidFill>
                  <a:srgbClr val="3333B2"/>
                </a:solidFill>
                <a:latin typeface="Lucida Sans Unicode"/>
                <a:cs typeface="Lucida Sans Unicode"/>
              </a:rPr>
              <a:t>▶</a:t>
            </a:r>
            <a:r>
              <a:rPr dirty="0" baseline="8333" sz="1500" spc="247">
                <a:solidFill>
                  <a:srgbClr val="3333B2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related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motion/mechanics,</a:t>
            </a:r>
            <a:r>
              <a:rPr dirty="0" sz="1000" spc="-10">
                <a:latin typeface="Tahoma"/>
                <a:cs typeface="Tahoma"/>
              </a:rPr>
              <a:t> like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speed,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distance</a:t>
            </a:r>
            <a:endParaRPr sz="1000">
              <a:latin typeface="Tahoma"/>
              <a:cs typeface="Tahoma"/>
            </a:endParaRPr>
          </a:p>
          <a:p>
            <a:pPr marL="492125">
              <a:lnSpc>
                <a:spcPts val="1200"/>
              </a:lnSpc>
            </a:pPr>
            <a:r>
              <a:rPr dirty="0" sz="1000" spc="-30">
                <a:latin typeface="Tahoma"/>
                <a:cs typeface="Tahoma"/>
              </a:rPr>
              <a:t>traveled,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acceleration???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98624"/>
            <a:ext cx="3012440" cy="880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Tahoma"/>
                <a:cs typeface="Tahoma"/>
                <a:hlinkClick r:id="rId2"/>
              </a:rPr>
              <a:t>https://doi.org/10.1109/IEDM13553.2020.9372124</a:t>
            </a:r>
            <a:endParaRPr sz="1100">
              <a:latin typeface="Tahoma"/>
              <a:cs typeface="Tahoma"/>
            </a:endParaRPr>
          </a:p>
          <a:p>
            <a:pPr marL="12700" marR="330200">
              <a:lnSpc>
                <a:spcPct val="205300"/>
              </a:lnSpc>
            </a:pPr>
            <a:r>
              <a:rPr dirty="0" sz="1100" spc="-40">
                <a:latin typeface="Tahoma"/>
                <a:cs typeface="Tahoma"/>
                <a:hlinkClick r:id="rId3"/>
              </a:rPr>
              <a:t>https://doi.org/10.1038/s44335-</a:t>
            </a:r>
            <a:r>
              <a:rPr dirty="0" sz="1100" spc="-50">
                <a:latin typeface="Tahoma"/>
                <a:cs typeface="Tahoma"/>
                <a:hlinkClick r:id="rId3"/>
              </a:rPr>
              <a:t>025-</a:t>
            </a:r>
            <a:r>
              <a:rPr dirty="0" sz="1100" spc="-55">
                <a:latin typeface="Tahoma"/>
                <a:cs typeface="Tahoma"/>
                <a:hlinkClick r:id="rId3"/>
              </a:rPr>
              <a:t>00044-</a:t>
            </a:r>
            <a:r>
              <a:rPr dirty="0" sz="1100" spc="-50">
                <a:latin typeface="Tahoma"/>
                <a:cs typeface="Tahoma"/>
                <a:hlinkClick r:id="rId3"/>
              </a:rPr>
              <a:t>2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  <a:hlinkClick r:id="rId4"/>
              </a:rPr>
              <a:t>https://doi.org/10.1109/MSSC.2024.3462388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Zhiyang Ong</dc:creator>
  <dcterms:created xsi:type="dcterms:W3CDTF">2026-06-12T15:23:47Z</dcterms:created>
  <dcterms:modified xsi:type="dcterms:W3CDTF">2026-06-12T15:23:47Z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2026-06-12T00:00:00Z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pdfTeX, Version 3.141592653-2.6-1.40.27 (TeX Live 2025) kpathsea version 6.4.1</vt:lpwstr>
  </property>
</Properties>
</file>